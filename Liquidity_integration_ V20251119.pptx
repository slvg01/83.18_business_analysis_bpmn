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9" r:id="rId1"/>
  </p:sldMasterIdLst>
  <p:notesMasterIdLst>
    <p:notesMasterId r:id="rId8"/>
  </p:notesMasterIdLst>
  <p:sldIdLst>
    <p:sldId id="256" r:id="rId2"/>
    <p:sldId id="291" r:id="rId3"/>
    <p:sldId id="292" r:id="rId4"/>
    <p:sldId id="293" r:id="rId5"/>
    <p:sldId id="294" r:id="rId6"/>
    <p:sldId id="296" r:id="rId7"/>
  </p:sldIdLst>
  <p:sldSz cx="9144000" cy="5143500" type="screen16x9"/>
  <p:notesSz cx="6858000" cy="9144000"/>
  <p:embeddedFontLst>
    <p:embeddedFont>
      <p:font typeface="Mulish" panose="020B0604020202020204" charset="0"/>
      <p:regular r:id="rId9"/>
      <p:bold r:id="rId10"/>
      <p:italic r:id="rId11"/>
      <p:boldItalic r:id="rId12"/>
    </p:embeddedFont>
    <p:embeddedFont>
      <p:font typeface="Nunito" pitchFamily="2" charset="0"/>
      <p:regular r:id="rId13"/>
      <p:bold r:id="rId14"/>
      <p:italic r:id="rId15"/>
      <p:boldItalic r:id="rId16"/>
    </p:embeddedFont>
    <p:embeddedFont>
      <p:font typeface="Nunito ExtraBold" pitchFamily="2" charset="0"/>
      <p:bold r:id="rId17"/>
      <p:boldItalic r:id="rId18"/>
    </p:embeddedFont>
    <p:embeddedFont>
      <p:font typeface="Nunito SemiBold" pitchFamily="2" charset="0"/>
      <p:regular r:id="rId19"/>
      <p:bold r:id="rId20"/>
      <p:italic r:id="rId21"/>
      <p:boldItalic r:id="rId22"/>
    </p:embeddedFont>
    <p:embeddedFont>
      <p:font typeface="Poppins Black" panose="00000A00000000000000" pitchFamily="2" charset="0"/>
      <p:bold r:id="rId23"/>
      <p:boldItalic r:id="rId24"/>
    </p:embeddedFont>
    <p:embeddedFont>
      <p:font typeface="Poppins Medium" panose="000006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7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24">
          <p15:clr>
            <a:srgbClr val="9AA0A6"/>
          </p15:clr>
        </p15:guide>
        <p15:guide id="4" pos="288">
          <p15:clr>
            <a:srgbClr val="9AA0A6"/>
          </p15:clr>
        </p15:guide>
        <p15:guide id="5" pos="2160">
          <p15:clr>
            <a:srgbClr val="9AA0A6"/>
          </p15:clr>
        </p15:guide>
        <p15:guide id="6" pos="4032">
          <p15:clr>
            <a:srgbClr val="9AA0A6"/>
          </p15:clr>
        </p15:guide>
        <p15:guide id="7" pos="2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038" y="138"/>
      </p:cViewPr>
      <p:guideLst>
        <p:guide orient="horz" pos="2376"/>
        <p:guide pos="2880"/>
        <p:guide orient="horz" pos="724"/>
        <p:guide pos="288"/>
        <p:guide pos="2160"/>
        <p:guide pos="4032"/>
        <p:guide pos="2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f690381dcd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1f690381dcd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6CB3FE89-E3DD-03DF-6175-0E0C5357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01519881-12A4-3C54-1929-145F23A846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2066D91B-3884-C647-DF23-E83CE4B1B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731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01EEBF0C-CBBD-2E1E-EF20-DC55BA6E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FAB007EB-1AD2-32E4-DD4D-EC6E7E9AF8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3B5C7CE7-0276-F4F6-8E56-946691F86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498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AF3DB792-2C32-A9C0-7166-DC9011E8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DD326DBB-A6AC-8046-0730-02F06DA15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4C431416-B4EF-2E94-8A83-746D4C79E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131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E84DBF6B-0984-0840-3983-9D33CB8C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B441A29C-A0F0-31A3-8EB3-1DC4C284B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C112C2FB-F83D-29EB-9344-F5FE72C7E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9871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77DE90E5-051F-1D82-636F-978464CC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264EA7B1-21AC-4A01-F0E3-05C1C93496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93D4EAF8-3CFC-4D01-A5E6-C93D47DC3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312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Navy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>
            <a:spLocks noGrp="1"/>
          </p:cNvSpPr>
          <p:nvPr>
            <p:ph type="sldNum" idx="12"/>
          </p:nvPr>
        </p:nvSpPr>
        <p:spPr>
          <a:xfrm>
            <a:off x="8366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082300" cy="46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455725" y="1280100"/>
            <a:ext cx="82326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ubTitle" idx="1"/>
          </p:nvPr>
        </p:nvSpPr>
        <p:spPr>
          <a:xfrm>
            <a:off x="455725" y="3481500"/>
            <a:ext cx="68244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navy w/ image">
  <p:cSld name="TITLE_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ctrTitle"/>
          </p:nvPr>
        </p:nvSpPr>
        <p:spPr>
          <a:xfrm>
            <a:off x="464950" y="228600"/>
            <a:ext cx="3992700" cy="25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sldNum" idx="12"/>
          </p:nvPr>
        </p:nvSpPr>
        <p:spPr>
          <a:xfrm>
            <a:off x="8366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4686300" y="0"/>
            <a:ext cx="4457700" cy="5143500"/>
          </a:xfrm>
          <a:prstGeom prst="rect">
            <a:avLst/>
          </a:prstGeom>
          <a:solidFill>
            <a:srgbClr val="2628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7"/>
          <p:cNvSpPr txBox="1">
            <a:spLocks noGrp="1"/>
          </p:cNvSpPr>
          <p:nvPr>
            <p:ph type="subTitle" idx="1"/>
          </p:nvPr>
        </p:nvSpPr>
        <p:spPr>
          <a:xfrm>
            <a:off x="464950" y="2797200"/>
            <a:ext cx="39927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55725" y="1280100"/>
            <a:ext cx="82326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subTitle" idx="1"/>
          </p:nvPr>
        </p:nvSpPr>
        <p:spPr>
          <a:xfrm>
            <a:off x="455725" y="3481500"/>
            <a:ext cx="68244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 1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455725" y="1280100"/>
            <a:ext cx="82326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subTitle" idx="1"/>
          </p:nvPr>
        </p:nvSpPr>
        <p:spPr>
          <a:xfrm>
            <a:off x="455725" y="3481500"/>
            <a:ext cx="68244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/ Points">
  <p:cSld name="TITLE_AND_BODY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body" idx="1"/>
          </p:nvPr>
        </p:nvSpPr>
        <p:spPr>
          <a:xfrm>
            <a:off x="228600" y="927000"/>
            <a:ext cx="8686800" cy="3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8271508" y="45212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only">
  <p:cSld name="TITLE_ONLY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body" idx="1"/>
          </p:nvPr>
        </p:nvSpPr>
        <p:spPr>
          <a:xfrm>
            <a:off x="228600" y="927000"/>
            <a:ext cx="8686800" cy="3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:4 title">
  <p:cSld name="ONE_COLUMN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/>
          <p:nvPr/>
        </p:nvSpPr>
        <p:spPr>
          <a:xfrm>
            <a:off x="164657" y="944725"/>
            <a:ext cx="4334700" cy="4072800"/>
          </a:xfrm>
          <a:prstGeom prst="roundRect">
            <a:avLst>
              <a:gd name="adj" fmla="val 4470"/>
            </a:avLst>
          </a:prstGeom>
          <a:solidFill>
            <a:srgbClr val="262834"/>
          </a:solidFill>
          <a:ln>
            <a:noFill/>
          </a:ln>
          <a:effectLst>
            <a:outerShdw blurRad="371475" dist="19050" dir="5400000" algn="bl" rotWithShape="0">
              <a:srgbClr val="000000">
                <a:alpha val="168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695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body" idx="1"/>
          </p:nvPr>
        </p:nvSpPr>
        <p:spPr>
          <a:xfrm>
            <a:off x="277032" y="1177675"/>
            <a:ext cx="40509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/>
          <p:nvPr/>
        </p:nvSpPr>
        <p:spPr>
          <a:xfrm>
            <a:off x="4637868" y="944725"/>
            <a:ext cx="4334700" cy="4072800"/>
          </a:xfrm>
          <a:prstGeom prst="roundRect">
            <a:avLst>
              <a:gd name="adj" fmla="val 4470"/>
            </a:avLst>
          </a:prstGeom>
          <a:solidFill>
            <a:srgbClr val="262834"/>
          </a:solidFill>
          <a:ln>
            <a:noFill/>
          </a:ln>
          <a:effectLst>
            <a:outerShdw blurRad="371475" dist="19050" dir="5400000" algn="bl" rotWithShape="0">
              <a:srgbClr val="000000">
                <a:alpha val="168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3"/>
          <p:cNvSpPr txBox="1">
            <a:spLocks noGrp="1"/>
          </p:cNvSpPr>
          <p:nvPr>
            <p:ph type="body" idx="2"/>
          </p:nvPr>
        </p:nvSpPr>
        <p:spPr>
          <a:xfrm>
            <a:off x="4750251" y="1177675"/>
            <a:ext cx="4054800" cy="3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200900" cy="46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56" name="Google Shape;15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5"/>
          <p:cNvSpPr/>
          <p:nvPr/>
        </p:nvSpPr>
        <p:spPr>
          <a:xfrm>
            <a:off x="0" y="4309800"/>
            <a:ext cx="9144000" cy="833700"/>
          </a:xfrm>
          <a:prstGeom prst="rect">
            <a:avLst/>
          </a:prstGeom>
          <a:solidFill>
            <a:srgbClr val="2628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5"/>
          <p:cNvSpPr txBox="1">
            <a:spLocks noGrp="1"/>
          </p:cNvSpPr>
          <p:nvPr>
            <p:ph type="body" idx="1"/>
          </p:nvPr>
        </p:nvSpPr>
        <p:spPr>
          <a:xfrm>
            <a:off x="228600" y="4424100"/>
            <a:ext cx="8686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SemiBold"/>
              <a:buNone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</a:lstStyle>
          <a:p>
            <a:endParaRPr/>
          </a:p>
        </p:txBody>
      </p:sp>
      <p:sp>
        <p:nvSpPr>
          <p:cNvPr id="160" name="Google Shape;16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numbers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6"/>
          <p:cNvSpPr txBox="1">
            <a:spLocks noGrp="1"/>
          </p:cNvSpPr>
          <p:nvPr>
            <p:ph type="title" hasCustomPrompt="1"/>
          </p:nvPr>
        </p:nvSpPr>
        <p:spPr>
          <a:xfrm>
            <a:off x="2286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" name="Google Shape;163;p36"/>
          <p:cNvSpPr txBox="1">
            <a:spLocks noGrp="1"/>
          </p:cNvSpPr>
          <p:nvPr>
            <p:ph type="body" idx="1"/>
          </p:nvPr>
        </p:nvSpPr>
        <p:spPr>
          <a:xfrm>
            <a:off x="2286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65" name="Google Shape;165;p36"/>
          <p:cNvSpPr txBox="1">
            <a:spLocks noGrp="1"/>
          </p:cNvSpPr>
          <p:nvPr>
            <p:ph type="body" idx="2"/>
          </p:nvPr>
        </p:nvSpPr>
        <p:spPr>
          <a:xfrm>
            <a:off x="61722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36"/>
          <p:cNvSpPr txBox="1">
            <a:spLocks noGrp="1"/>
          </p:cNvSpPr>
          <p:nvPr>
            <p:ph type="body" idx="3"/>
          </p:nvPr>
        </p:nvSpPr>
        <p:spPr>
          <a:xfrm>
            <a:off x="32004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7" name="Google Shape;167;p36"/>
          <p:cNvSpPr txBox="1">
            <a:spLocks noGrp="1"/>
          </p:cNvSpPr>
          <p:nvPr>
            <p:ph type="title" idx="4" hasCustomPrompt="1"/>
          </p:nvPr>
        </p:nvSpPr>
        <p:spPr>
          <a:xfrm>
            <a:off x="32004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36"/>
          <p:cNvSpPr txBox="1">
            <a:spLocks noGrp="1"/>
          </p:cNvSpPr>
          <p:nvPr>
            <p:ph type="title" idx="5" hasCustomPrompt="1"/>
          </p:nvPr>
        </p:nvSpPr>
        <p:spPr>
          <a:xfrm>
            <a:off x="61722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9" name="Google Shape;169;p36"/>
          <p:cNvSpPr txBox="1">
            <a:spLocks noGrp="1"/>
          </p:cNvSpPr>
          <p:nvPr>
            <p:ph type="title" idx="6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6"/>
          <p:cNvSpPr txBox="1">
            <a:spLocks noGrp="1"/>
          </p:cNvSpPr>
          <p:nvPr>
            <p:ph type="subTitle" idx="7"/>
          </p:nvPr>
        </p:nvSpPr>
        <p:spPr>
          <a:xfrm>
            <a:off x="233375" y="771525"/>
            <a:ext cx="86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12">
          <p15:clr>
            <a:srgbClr val="FA7B17"/>
          </p15:clr>
        </p15:guide>
        <p15:guide id="2" orient="horz" pos="1728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big number 1">
  <p:cSld name="BIG_NUMBER_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 txBox="1">
            <a:spLocks noGrp="1"/>
          </p:cNvSpPr>
          <p:nvPr>
            <p:ph type="title"/>
          </p:nvPr>
        </p:nvSpPr>
        <p:spPr>
          <a:xfrm>
            <a:off x="228600" y="914400"/>
            <a:ext cx="4229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body" idx="1"/>
          </p:nvPr>
        </p:nvSpPr>
        <p:spPr>
          <a:xfrm>
            <a:off x="228600" y="2743200"/>
            <a:ext cx="42291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title" idx="2"/>
          </p:nvPr>
        </p:nvSpPr>
        <p:spPr>
          <a:xfrm>
            <a:off x="4686300" y="914400"/>
            <a:ext cx="4229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body" idx="3"/>
          </p:nvPr>
        </p:nvSpPr>
        <p:spPr>
          <a:xfrm>
            <a:off x="4686300" y="2759800"/>
            <a:ext cx="42291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title" idx="4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subTitle" idx="5"/>
          </p:nvPr>
        </p:nvSpPr>
        <p:spPr>
          <a:xfrm>
            <a:off x="233375" y="771525"/>
            <a:ext cx="86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12">
          <p15:clr>
            <a:srgbClr val="FA7B17"/>
          </p15:clr>
        </p15:guide>
        <p15:guide id="2" orient="horz" pos="1728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numbers">
  <p:cSld name="BIG_NUMBER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81" name="Google Shape;181;p38"/>
          <p:cNvSpPr txBox="1">
            <a:spLocks noGrp="1"/>
          </p:cNvSpPr>
          <p:nvPr>
            <p:ph type="body" idx="1"/>
          </p:nvPr>
        </p:nvSpPr>
        <p:spPr>
          <a:xfrm>
            <a:off x="228600" y="3152225"/>
            <a:ext cx="86868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title" idx="2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subTitle" idx="3"/>
          </p:nvPr>
        </p:nvSpPr>
        <p:spPr>
          <a:xfrm>
            <a:off x="233375" y="771525"/>
            <a:ext cx="86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mper Navy">
  <p:cSld name="BLANK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pic>
        <p:nvPicPr>
          <p:cNvPr id="187" name="Google Shape;18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52929" y="1657350"/>
            <a:ext cx="3438143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numbers 1">
  <p:cSld name="BIG_NUMBER_3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>
            <a:spLocks noGrp="1"/>
          </p:cNvSpPr>
          <p:nvPr>
            <p:ph type="title"/>
          </p:nvPr>
        </p:nvSpPr>
        <p:spPr>
          <a:xfrm>
            <a:off x="2286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90" name="Google Shape;190;p40"/>
          <p:cNvSpPr txBox="1">
            <a:spLocks noGrp="1"/>
          </p:cNvSpPr>
          <p:nvPr>
            <p:ph type="body" idx="1"/>
          </p:nvPr>
        </p:nvSpPr>
        <p:spPr>
          <a:xfrm>
            <a:off x="2286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92" name="Google Shape;192;p40"/>
          <p:cNvSpPr txBox="1">
            <a:spLocks noGrp="1"/>
          </p:cNvSpPr>
          <p:nvPr>
            <p:ph type="body" idx="2"/>
          </p:nvPr>
        </p:nvSpPr>
        <p:spPr>
          <a:xfrm>
            <a:off x="61722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40"/>
          <p:cNvSpPr txBox="1">
            <a:spLocks noGrp="1"/>
          </p:cNvSpPr>
          <p:nvPr>
            <p:ph type="body" idx="3"/>
          </p:nvPr>
        </p:nvSpPr>
        <p:spPr>
          <a:xfrm>
            <a:off x="32004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4" name="Google Shape;194;p40"/>
          <p:cNvSpPr txBox="1">
            <a:spLocks noGrp="1"/>
          </p:cNvSpPr>
          <p:nvPr>
            <p:ph type="title" idx="4"/>
          </p:nvPr>
        </p:nvSpPr>
        <p:spPr>
          <a:xfrm>
            <a:off x="32004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95" name="Google Shape;195;p40"/>
          <p:cNvSpPr txBox="1">
            <a:spLocks noGrp="1"/>
          </p:cNvSpPr>
          <p:nvPr>
            <p:ph type="title" idx="5"/>
          </p:nvPr>
        </p:nvSpPr>
        <p:spPr>
          <a:xfrm>
            <a:off x="61722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96" name="Google Shape;196;p40"/>
          <p:cNvSpPr txBox="1">
            <a:spLocks noGrp="1"/>
          </p:cNvSpPr>
          <p:nvPr>
            <p:ph type="title" idx="6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0"/>
          <p:cNvSpPr txBox="1">
            <a:spLocks noGrp="1"/>
          </p:cNvSpPr>
          <p:nvPr>
            <p:ph type="subTitle" idx="7"/>
          </p:nvPr>
        </p:nvSpPr>
        <p:spPr>
          <a:xfrm>
            <a:off x="233375" y="771525"/>
            <a:ext cx="86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12">
          <p15:clr>
            <a:srgbClr val="FA7B17"/>
          </p15:clr>
        </p15:guide>
        <p15:guide id="2" orient="horz" pos="1728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pic>
        <p:nvPicPr>
          <p:cNvPr id="200" name="Google Shape;200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71025" y="2819400"/>
            <a:ext cx="212527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914400" y="2351175"/>
            <a:ext cx="6494400" cy="20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937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600"/>
              <a:buChar char="●"/>
              <a:defRPr sz="2600">
                <a:solidFill>
                  <a:srgbClr val="FFFFFF"/>
                </a:solidFill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41"/>
          <p:cNvSpPr txBox="1">
            <a:spLocks noGrp="1"/>
          </p:cNvSpPr>
          <p:nvPr>
            <p:ph type="body" idx="2"/>
          </p:nvPr>
        </p:nvSpPr>
        <p:spPr>
          <a:xfrm>
            <a:off x="994550" y="3924525"/>
            <a:ext cx="53142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58">
          <p15:clr>
            <a:srgbClr val="F9AD4C"/>
          </p15:clr>
        </p15:guide>
        <p15:guide id="2" pos="2880">
          <p15:clr>
            <a:srgbClr val="F9AD4C"/>
          </p15:clr>
        </p15:guide>
        <p15:guide id="3" orient="horz" pos="2844">
          <p15:clr>
            <a:srgbClr val="F9AD4C"/>
          </p15:clr>
        </p15:guide>
        <p15:guide id="4" pos="576">
          <p15:clr>
            <a:srgbClr val="F9AD4C"/>
          </p15:clr>
        </p15:guide>
        <p15:guide id="5" pos="5472">
          <p15:clr>
            <a:srgbClr val="F9AD4C"/>
          </p15:clr>
        </p15:guide>
        <p15:guide id="6" pos="4608">
          <p15:clr>
            <a:srgbClr val="F9AD4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Navy 1">
  <p:cSld name="TITLE_4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>
            <a:spLocks noGrp="1"/>
          </p:cNvSpPr>
          <p:nvPr>
            <p:ph type="ctrTitle"/>
          </p:nvPr>
        </p:nvSpPr>
        <p:spPr>
          <a:xfrm>
            <a:off x="228600" y="228600"/>
            <a:ext cx="7200900" cy="25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5" name="Google Shape;205;p42"/>
          <p:cNvSpPr txBox="1">
            <a:spLocks noGrp="1"/>
          </p:cNvSpPr>
          <p:nvPr>
            <p:ph type="subTitle" idx="1"/>
          </p:nvPr>
        </p:nvSpPr>
        <p:spPr>
          <a:xfrm>
            <a:off x="228600" y="2961850"/>
            <a:ext cx="72009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2800"/>
              <a:buNone/>
              <a:defRPr sz="2800">
                <a:solidFill>
                  <a:srgbClr val="F1F1F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sldNum" idx="12"/>
          </p:nvPr>
        </p:nvSpPr>
        <p:spPr>
          <a:xfrm>
            <a:off x="8366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E20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228600" y="1152475"/>
            <a:ext cx="868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ulish"/>
              <a:buChar char="●"/>
              <a:defRPr sz="16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●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●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EA4335"/>
          </p15:clr>
        </p15:guide>
        <p15:guide id="2" pos="936">
          <p15:clr>
            <a:srgbClr val="EA4335"/>
          </p15:clr>
        </p15:guide>
        <p15:guide id="3" pos="1080">
          <p15:clr>
            <a:srgbClr val="EA4335"/>
          </p15:clr>
        </p15:guide>
        <p15:guide id="4" pos="1872">
          <p15:clr>
            <a:srgbClr val="EA4335"/>
          </p15:clr>
        </p15:guide>
        <p15:guide id="5" pos="2016">
          <p15:clr>
            <a:srgbClr val="EA4335"/>
          </p15:clr>
        </p15:guide>
        <p15:guide id="6" pos="2808">
          <p15:clr>
            <a:srgbClr val="EA4335"/>
          </p15:clr>
        </p15:guide>
        <p15:guide id="7" pos="2952">
          <p15:clr>
            <a:srgbClr val="EA4335"/>
          </p15:clr>
        </p15:guide>
        <p15:guide id="8" pos="3744">
          <p15:clr>
            <a:srgbClr val="EA4335"/>
          </p15:clr>
        </p15:guide>
        <p15:guide id="9" pos="3888">
          <p15:clr>
            <a:srgbClr val="EA4335"/>
          </p15:clr>
        </p15:guide>
        <p15:guide id="10" pos="4680">
          <p15:clr>
            <a:srgbClr val="EA4335"/>
          </p15:clr>
        </p15:guide>
        <p15:guide id="11" pos="4824">
          <p15:clr>
            <a:srgbClr val="EA4335"/>
          </p15:clr>
        </p15:guide>
        <p15:guide id="12" pos="5616">
          <p15:clr>
            <a:srgbClr val="EA4335"/>
          </p15:clr>
        </p15:guide>
        <p15:guide id="13" orient="horz" pos="144">
          <p15:clr>
            <a:srgbClr val="EA4335"/>
          </p15:clr>
        </p15:guide>
        <p15:guide id="14" orient="horz" pos="576">
          <p15:clr>
            <a:srgbClr val="EA4335"/>
          </p15:clr>
        </p15:guide>
        <p15:guide id="15" orient="horz" pos="309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>
            <a:spLocks noGrp="1"/>
          </p:cNvSpPr>
          <p:nvPr>
            <p:ph type="ctrTitle" idx="4294967295"/>
          </p:nvPr>
        </p:nvSpPr>
        <p:spPr>
          <a:xfrm>
            <a:off x="278716" y="1348866"/>
            <a:ext cx="5269155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</a:pPr>
            <a:r>
              <a:rPr lang="en-US" sz="4800" b="0" dirty="0">
                <a:latin typeface="Nunito ExtraBold"/>
                <a:ea typeface="Nunito ExtraBold"/>
                <a:cs typeface="Nunito ExtraBold"/>
                <a:sym typeface="Nunito ExtraBold"/>
              </a:rPr>
              <a:t>Liquidity integration project </a:t>
            </a:r>
            <a:endParaRPr lang="en-US" sz="4800" b="0" i="0" u="none" strike="noStrike" cap="none" dirty="0">
              <a:solidFill>
                <a:schemeClr val="dk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0294615F-764D-96D4-5EA5-2D0E05B1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0721981C-D0CB-4742-2154-0961C5D74C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1977" y="136031"/>
            <a:ext cx="7090481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 dirty="0"/>
              <a:t>Strategic Request on Liquidity</a:t>
            </a:r>
            <a:endParaRPr sz="4000" dirty="0"/>
          </a:p>
        </p:txBody>
      </p:sp>
      <p:sp>
        <p:nvSpPr>
          <p:cNvPr id="228" name="Google Shape;228;p45">
            <a:extLst>
              <a:ext uri="{FF2B5EF4-FFF2-40B4-BE49-F238E27FC236}">
                <a16:creationId xmlns:a16="http://schemas.microsoft.com/office/drawing/2014/main" id="{A1044521-6EEE-C719-EFF8-E7582BB9E4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16389" y="1701409"/>
            <a:ext cx="6021655" cy="1968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br>
              <a:rPr lang="en" sz="1600" dirty="0"/>
            </a:br>
            <a:endParaRPr lang="en" sz="16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fr-BE" sz="1600" dirty="0"/>
              <a:t>I</a:t>
            </a:r>
            <a:r>
              <a:rPr lang="en" sz="1600" dirty="0"/>
              <a:t>ncrease our </a:t>
            </a:r>
            <a:r>
              <a:rPr lang="fr-BE" sz="1600" dirty="0" err="1"/>
              <a:t>sovereignty</a:t>
            </a:r>
            <a:endParaRPr lang="fr-BE" sz="16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" sz="1600" dirty="0"/>
              <a:t>and control over our operation</a:t>
            </a:r>
            <a:endParaRPr lang="fr-BE" sz="16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fr-BE" sz="1600" dirty="0"/>
              <a:t>I</a:t>
            </a:r>
            <a:r>
              <a:rPr lang="en" sz="1600" dirty="0"/>
              <a:t>ncrease robustness/resilience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" sz="1600" dirty="0"/>
              <a:t>Monetize the book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" sz="1600" dirty="0"/>
              <a:t>Decrease liquidity mobilization </a:t>
            </a:r>
          </a:p>
          <a:p>
            <a:pPr marL="0" indent="0"/>
            <a:br>
              <a:rPr lang="en" sz="1600" dirty="0"/>
            </a:br>
            <a:br>
              <a:rPr lang="en" sz="2400" dirty="0"/>
            </a:br>
            <a:br>
              <a:rPr lang="en" sz="2400" dirty="0"/>
            </a:br>
            <a:endParaRPr lang="en-US" sz="2800" b="1" dirty="0">
              <a:solidFill>
                <a:schemeClr val="accent1"/>
              </a:solidFill>
            </a:endParaRPr>
          </a:p>
          <a:p>
            <a:pPr marL="0" indent="0"/>
            <a:endParaRPr lang="en-US" sz="24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" sz="2400" dirty="0"/>
            </a:br>
            <a:endParaRPr sz="24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0B70AC5D-9A43-0E5A-B78B-6C5001C7C4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813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5C495004-A257-0923-50E0-E12F6DA7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81261881-9F62-A06E-8624-548FA4E7A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6759" y="-189551"/>
            <a:ext cx="7090481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 dirty="0"/>
              <a:t>The initial situaton </a:t>
            </a:r>
            <a:endParaRPr sz="4000" dirty="0"/>
          </a:p>
        </p:txBody>
      </p:sp>
      <p:sp>
        <p:nvSpPr>
          <p:cNvPr id="228" name="Google Shape;228;p45">
            <a:extLst>
              <a:ext uri="{FF2B5EF4-FFF2-40B4-BE49-F238E27FC236}">
                <a16:creationId xmlns:a16="http://schemas.microsoft.com/office/drawing/2014/main" id="{1C176EB3-736D-847B-6E0D-781EA59914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4562" y="1189960"/>
            <a:ext cx="6492711" cy="300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/>
              <a:t>Liquidity management is externalized to one provider only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 dirty="0" err="1"/>
              <a:t>Fully</a:t>
            </a:r>
            <a:r>
              <a:rPr lang="fr-BE" sz="1600" dirty="0"/>
              <a:t> </a:t>
            </a:r>
            <a:r>
              <a:rPr lang="fr-BE" sz="1600" dirty="0" err="1"/>
              <a:t>dependant</a:t>
            </a:r>
            <a:r>
              <a:rPr lang="fr-BE" sz="1600" dirty="0"/>
              <a:t> to one provider </a:t>
            </a:r>
            <a:r>
              <a:rPr lang="fr-BE" sz="1600" dirty="0" err="1"/>
              <a:t>causing</a:t>
            </a:r>
            <a:r>
              <a:rPr lang="fr-BE" sz="1600" dirty="0"/>
              <a:t> </a:t>
            </a:r>
            <a:r>
              <a:rPr lang="fr-BE" sz="1600" dirty="0" err="1"/>
              <a:t>robustness</a:t>
            </a:r>
            <a:r>
              <a:rPr lang="fr-BE" sz="1600" dirty="0"/>
              <a:t> and performance </a:t>
            </a:r>
            <a:r>
              <a:rPr lang="fr-BE" sz="1600" dirty="0" err="1"/>
              <a:t>risk</a:t>
            </a:r>
            <a:r>
              <a:rPr lang="fr-BE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 dirty="0"/>
              <a:t>No </a:t>
            </a:r>
            <a:r>
              <a:rPr lang="fr-BE" sz="1600" dirty="0" err="1"/>
              <a:t>flexibility</a:t>
            </a:r>
            <a:r>
              <a:rPr lang="fr-BE" sz="1600" dirty="0"/>
              <a:t> in </a:t>
            </a:r>
            <a:r>
              <a:rPr lang="fr-BE" sz="1600" dirty="0" err="1"/>
              <a:t>terms</a:t>
            </a:r>
            <a:r>
              <a:rPr lang="fr-BE" sz="1600" dirty="0"/>
              <a:t> of business leveraging/performance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BE" sz="1600" dirty="0"/>
              <a:t>All </a:t>
            </a:r>
            <a:r>
              <a:rPr lang="fr-BE" sz="1600" dirty="0" err="1"/>
              <a:t>trades</a:t>
            </a:r>
            <a:r>
              <a:rPr lang="fr-BE" sz="1600" dirty="0"/>
              <a:t> are sent to </a:t>
            </a:r>
            <a:r>
              <a:rPr lang="fr-BE" sz="1600" dirty="0" err="1"/>
              <a:t>him</a:t>
            </a:r>
            <a:endParaRPr lang="fr-BE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BE" sz="1600" dirty="0"/>
              <a:t>No </a:t>
            </a:r>
            <a:r>
              <a:rPr lang="fr-BE" sz="1600" dirty="0" err="1"/>
              <a:t>possibility</a:t>
            </a:r>
            <a:r>
              <a:rPr lang="fr-BE" sz="1600" dirty="0"/>
              <a:t> </a:t>
            </a:r>
            <a:r>
              <a:rPr lang="fr-BE" sz="1600" dirty="0" err="1"/>
              <a:t>regarding</a:t>
            </a:r>
            <a:r>
              <a:rPr lang="fr-BE" sz="1600" dirty="0"/>
              <a:t> book </a:t>
            </a:r>
            <a:r>
              <a:rPr lang="fr-BE" sz="1600" dirty="0" err="1"/>
              <a:t>shaping</a:t>
            </a:r>
            <a:r>
              <a:rPr lang="fr-BE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 dirty="0" err="1"/>
              <a:t>Lack</a:t>
            </a:r>
            <a:r>
              <a:rPr lang="fr-BE" sz="1600" dirty="0"/>
              <a:t> of </a:t>
            </a:r>
            <a:r>
              <a:rPr lang="fr-BE" sz="1600" dirty="0" err="1"/>
              <a:t>competition</a:t>
            </a:r>
            <a:r>
              <a:rPr lang="fr-BE" sz="1600" dirty="0"/>
              <a:t> in the </a:t>
            </a:r>
            <a:r>
              <a:rPr lang="fr-BE" sz="1600" dirty="0" err="1"/>
              <a:t>quotes</a:t>
            </a:r>
            <a:r>
              <a:rPr lang="fr-BE" sz="1600" dirty="0"/>
              <a:t>, conditions are not optimum (</a:t>
            </a:r>
            <a:r>
              <a:rPr lang="fr-BE" sz="1600" dirty="0" err="1"/>
              <a:t>ToB</a:t>
            </a:r>
            <a:r>
              <a:rPr lang="fr-BE" sz="1600" dirty="0"/>
              <a:t>, spread, </a:t>
            </a:r>
            <a:r>
              <a:rPr lang="fr-BE" sz="1600" dirty="0" err="1"/>
              <a:t>depth</a:t>
            </a:r>
            <a:r>
              <a:rPr lang="fr-BE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 dirty="0"/>
              <a:t>Limited </a:t>
            </a:r>
            <a:r>
              <a:rPr lang="fr-BE" sz="1600" dirty="0" err="1"/>
              <a:t>available</a:t>
            </a:r>
            <a:r>
              <a:rPr lang="fr-BE" sz="1600" dirty="0"/>
              <a:t> </a:t>
            </a:r>
            <a:r>
              <a:rPr lang="fr-BE" sz="1600" dirty="0" err="1"/>
              <a:t>products</a:t>
            </a:r>
            <a:r>
              <a:rPr lang="fr-BE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/>
              <a:t>W</a:t>
            </a:r>
            <a:r>
              <a:rPr lang="en" sz="1600" dirty="0"/>
              <a:t>hereas we do have now the tehcnology and know how (API/back and front) to do it ourself: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1600" dirty="0"/>
              <a:t>matching engine for trade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API, back end , front end tech expandable to a liquidity pipeline and book creation </a:t>
            </a:r>
          </a:p>
          <a:p>
            <a:pPr marL="0" indent="0"/>
            <a:endParaRPr lang="en-US" sz="24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" sz="2400" dirty="0"/>
            </a:br>
            <a:endParaRPr sz="24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48D7227D-672F-323D-8B0A-CCE152CABC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36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158703EE-8EEF-B663-14A4-9F0F23C9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8E204AA1-C189-24FD-64BC-C0D68B707A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6759" y="-203405"/>
            <a:ext cx="7090481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 dirty="0"/>
              <a:t>The plan</a:t>
            </a:r>
            <a:endParaRPr sz="4000" dirty="0"/>
          </a:p>
        </p:txBody>
      </p:sp>
      <p:sp>
        <p:nvSpPr>
          <p:cNvPr id="228" name="Google Shape;228;p45">
            <a:extLst>
              <a:ext uri="{FF2B5EF4-FFF2-40B4-BE49-F238E27FC236}">
                <a16:creationId xmlns:a16="http://schemas.microsoft.com/office/drawing/2014/main" id="{1B3BCF6E-C5DF-6128-48B1-2DC4AFC2C2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0706" y="1149927"/>
            <a:ext cx="8148330" cy="298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2400" dirty="0"/>
              <a:t>Create a liquidity and a BI platform allowing to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I</a:t>
            </a:r>
            <a:r>
              <a:rPr lang="en" sz="1800" dirty="0">
                <a:solidFill>
                  <a:schemeClr val="accent4"/>
                </a:solidFill>
              </a:rPr>
              <a:t>ntegrate</a:t>
            </a:r>
            <a:r>
              <a:rPr lang="en" sz="1800" dirty="0"/>
              <a:t> several liquidity providers offering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P</a:t>
            </a:r>
            <a:r>
              <a:rPr lang="en" sz="1800" dirty="0"/>
              <a:t>ipeline and shape (ETL) it to optimize TOB, spread &amp; depth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I</a:t>
            </a:r>
            <a:r>
              <a:rPr lang="en" sz="1800" dirty="0"/>
              <a:t>ntegrate them with internal resting order to form the trading book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O</a:t>
            </a:r>
            <a:r>
              <a:rPr lang="en" sz="1800" dirty="0"/>
              <a:t>ptimize revenue in relation with the book/liquidity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Endure </a:t>
            </a:r>
            <a:r>
              <a:rPr lang="fr-BE" sz="1800" dirty="0" err="1"/>
              <a:t>robustness</a:t>
            </a:r>
            <a:r>
              <a:rPr lang="fr-BE" sz="1800" dirty="0"/>
              <a:t> of the system (</a:t>
            </a:r>
            <a:r>
              <a:rPr lang="fr-BE" sz="1800" dirty="0" err="1"/>
              <a:t>alerting</a:t>
            </a:r>
            <a:r>
              <a:rPr lang="fr-BE" sz="1800" dirty="0"/>
              <a:t>, switch system)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 err="1"/>
              <a:t>Decrease</a:t>
            </a:r>
            <a:r>
              <a:rPr lang="fr-BE" sz="1800" dirty="0"/>
              <a:t> </a:t>
            </a:r>
            <a:r>
              <a:rPr lang="fr-BE" sz="1800" dirty="0" err="1"/>
              <a:t>mobilized</a:t>
            </a:r>
            <a:r>
              <a:rPr lang="fr-BE" sz="1800" dirty="0"/>
              <a:t> </a:t>
            </a:r>
            <a:r>
              <a:rPr lang="fr-BE" sz="1800" dirty="0" err="1"/>
              <a:t>margin</a:t>
            </a:r>
            <a:r>
              <a:rPr lang="fr-BE" sz="1800" dirty="0"/>
              <a:t> (cross </a:t>
            </a:r>
            <a:r>
              <a:rPr lang="fr-BE" sz="1800" dirty="0" err="1"/>
              <a:t>margin</a:t>
            </a:r>
            <a:r>
              <a:rPr lang="fr-BE" sz="1800" dirty="0"/>
              <a:t> model to </a:t>
            </a:r>
            <a:r>
              <a:rPr lang="fr-BE" sz="1800" dirty="0" err="1"/>
              <a:t>be</a:t>
            </a:r>
            <a:r>
              <a:rPr lang="fr-BE" sz="1800" dirty="0"/>
              <a:t> </a:t>
            </a:r>
            <a:r>
              <a:rPr lang="fr-BE" sz="1800" dirty="0" err="1"/>
              <a:t>used</a:t>
            </a:r>
            <a:r>
              <a:rPr lang="fr-BE" sz="18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M</a:t>
            </a:r>
            <a:r>
              <a:rPr lang="en" sz="1800" dirty="0"/>
              <a:t>onitor  realtime the liquidity (operation and margin management)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1800" dirty="0"/>
              <a:t>Monitor the liquidity long term performance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4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C266046F-48E1-F59D-EBE8-62D6B6E75B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470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50949272-5162-3BA8-8A1E-C3F37A8C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A2E17DEC-8EC0-9533-F40C-093C88802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795" y="-341951"/>
            <a:ext cx="7090481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 dirty="0"/>
              <a:t>Process Modelling Before </a:t>
            </a:r>
            <a:endParaRPr sz="40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652758D7-4843-94D3-EB08-2258FE1CA6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6D8E661-BCC3-7473-1521-AD70FBBE7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62" y="1074163"/>
            <a:ext cx="7346232" cy="37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93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BCD27123-E0D2-B9C0-6EBC-8C2F691EC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7461C2D8-6F13-3AA0-1128-617315A76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3128" y="-1187754"/>
            <a:ext cx="1911927" cy="2593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800" dirty="0"/>
              <a:t>Process</a:t>
            </a:r>
            <a:br>
              <a:rPr lang="en" sz="2800" dirty="0"/>
            </a:br>
            <a:r>
              <a:rPr lang="en" sz="2800" dirty="0"/>
              <a:t>Modelling</a:t>
            </a:r>
            <a:br>
              <a:rPr lang="en" sz="2800" dirty="0"/>
            </a:br>
            <a:r>
              <a:rPr lang="en" sz="2800" dirty="0"/>
              <a:t> After</a:t>
            </a:r>
            <a:endParaRPr sz="28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43229E2B-95B4-FB7A-7E0E-C8CEB5D712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9EEF87-1916-84F2-EA51-CA923E180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593" y="0"/>
            <a:ext cx="736140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36204"/>
      </p:ext>
    </p:extLst>
  </p:cSld>
  <p:clrMapOvr>
    <a:masterClrMapping/>
  </p:clrMapOvr>
</p:sld>
</file>

<file path=ppt/theme/theme1.xml><?xml version="1.0" encoding="utf-8"?>
<a:theme xmlns:a="http://schemas.openxmlformats.org/drawingml/2006/main" name="Stockwell New Template">
  <a:themeElements>
    <a:clrScheme name="Simple Light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7387FF"/>
      </a:accent1>
      <a:accent2>
        <a:srgbClr val="FF7E62"/>
      </a:accent2>
      <a:accent3>
        <a:srgbClr val="00EFE1"/>
      </a:accent3>
      <a:accent4>
        <a:srgbClr val="808080"/>
      </a:accent4>
      <a:accent5>
        <a:srgbClr val="FF8675"/>
      </a:accent5>
      <a:accent6>
        <a:srgbClr val="FFFFFF"/>
      </a:accent6>
      <a:hlink>
        <a:srgbClr val="8BAC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</TotalTime>
  <Words>246</Words>
  <Application>Microsoft Office PowerPoint</Application>
  <PresentationFormat>Affichage à l'écran (16:9)</PresentationFormat>
  <Paragraphs>41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Nunito ExtraBold</vt:lpstr>
      <vt:lpstr>Nunito</vt:lpstr>
      <vt:lpstr>Poppins Medium</vt:lpstr>
      <vt:lpstr>Arial</vt:lpstr>
      <vt:lpstr>Mulish</vt:lpstr>
      <vt:lpstr>Nunito SemiBold</vt:lpstr>
      <vt:lpstr>Poppins Black</vt:lpstr>
      <vt:lpstr>Stockwell New Template</vt:lpstr>
      <vt:lpstr>Liquidity integration project </vt:lpstr>
      <vt:lpstr>Strategic Request on Liquidity</vt:lpstr>
      <vt:lpstr>The initial situaton </vt:lpstr>
      <vt:lpstr>The plan</vt:lpstr>
      <vt:lpstr>Process Modelling Before </vt:lpstr>
      <vt:lpstr>Process Modelling  After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Liquidity feed monitoring</dc:title>
  <dc:creator>Hello X!</dc:creator>
  <cp:lastModifiedBy>SL !</cp:lastModifiedBy>
  <cp:revision>35</cp:revision>
  <dcterms:modified xsi:type="dcterms:W3CDTF">2025-11-28T14:12:30Z</dcterms:modified>
</cp:coreProperties>
</file>